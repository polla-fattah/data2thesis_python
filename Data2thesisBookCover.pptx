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sldIdLst>
    <p:sldId id="256" r:id="rId2"/>
    <p:sldId id="257" r:id="rId3"/>
  </p:sldIdLst>
  <p:sldSz cx="6858000" cy="9144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E272E"/>
    <a:srgbClr val="1B212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2803" autoAdjust="0"/>
    <p:restoredTop sz="94660"/>
  </p:normalViewPr>
  <p:slideViewPr>
    <p:cSldViewPr snapToGrid="0">
      <p:cViewPr varScale="1">
        <p:scale>
          <a:sx n="114" d="100"/>
          <a:sy n="114" d="100"/>
        </p:scale>
        <p:origin x="3456"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3" Type="http://schemas.openxmlformats.org/officeDocument/2006/relationships/slide" Target="slides/slide2.xml"/><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4"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14350" y="1496484"/>
            <a:ext cx="5829300" cy="3183467"/>
          </a:xfrm>
        </p:spPr>
        <p:txBody>
          <a:bodyPr anchor="b"/>
          <a:lstStyle>
            <a:lvl1pPr algn="ctr">
              <a:defRPr sz="4500"/>
            </a:lvl1pPr>
          </a:lstStyle>
          <a:p>
            <a:r>
              <a:rPr lang="en-US"/>
              <a:t>Click to edit Master title style</a:t>
            </a:r>
            <a:endParaRPr lang="en-US" dirty="0"/>
          </a:p>
        </p:txBody>
      </p:sp>
      <p:sp>
        <p:nvSpPr>
          <p:cNvPr id="3" name="Subtitle 2"/>
          <p:cNvSpPr>
            <a:spLocks noGrp="1"/>
          </p:cNvSpPr>
          <p:nvPr>
            <p:ph type="subTitle" idx="1"/>
          </p:nvPr>
        </p:nvSpPr>
        <p:spPr>
          <a:xfrm>
            <a:off x="857250" y="4802717"/>
            <a:ext cx="5143500" cy="2207683"/>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8A423862-3F52-459D-BB97-400A2FF529BA}" type="datetimeFigureOut">
              <a:rPr lang="en-US" smtClean="0"/>
              <a:t>2026-10-22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C0A8827-8173-478E-8027-31A736D41BAD}" type="slidenum">
              <a:rPr lang="en-US" smtClean="0"/>
              <a:t>‹#›</a:t>
            </a:fld>
            <a:endParaRPr lang="en-US"/>
          </a:p>
        </p:txBody>
      </p:sp>
    </p:spTree>
    <p:extLst>
      <p:ext uri="{BB962C8B-B14F-4D97-AF65-F5344CB8AC3E}">
        <p14:creationId xmlns:p14="http://schemas.microsoft.com/office/powerpoint/2010/main" val="42260476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A423862-3F52-459D-BB97-400A2FF529BA}" type="datetimeFigureOut">
              <a:rPr lang="en-US" smtClean="0"/>
              <a:t>2026-10-22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C0A8827-8173-478E-8027-31A736D41BAD}" type="slidenum">
              <a:rPr lang="en-US" smtClean="0"/>
              <a:t>‹#›</a:t>
            </a:fld>
            <a:endParaRPr lang="en-US"/>
          </a:p>
        </p:txBody>
      </p:sp>
    </p:spTree>
    <p:extLst>
      <p:ext uri="{BB962C8B-B14F-4D97-AF65-F5344CB8AC3E}">
        <p14:creationId xmlns:p14="http://schemas.microsoft.com/office/powerpoint/2010/main" val="131434121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467916" y="2279653"/>
            <a:ext cx="5915025" cy="3803649"/>
          </a:xfrm>
        </p:spPr>
        <p:txBody>
          <a:bodyPr anchor="b"/>
          <a:lstStyle>
            <a:lvl1pPr>
              <a:defRPr sz="4500"/>
            </a:lvl1pPr>
          </a:lstStyle>
          <a:p>
            <a:r>
              <a:rPr lang="en-US"/>
              <a:t>Click to edit Master title style</a:t>
            </a:r>
            <a:endParaRPr lang="en-US" dirty="0"/>
          </a:p>
        </p:txBody>
      </p:sp>
      <p:sp>
        <p:nvSpPr>
          <p:cNvPr id="3" name="Text Placeholder 2"/>
          <p:cNvSpPr>
            <a:spLocks noGrp="1"/>
          </p:cNvSpPr>
          <p:nvPr>
            <p:ph type="body" idx="1"/>
          </p:nvPr>
        </p:nvSpPr>
        <p:spPr>
          <a:xfrm>
            <a:off x="467916" y="6119286"/>
            <a:ext cx="5915025" cy="2000249"/>
          </a:xfrm>
        </p:spPr>
        <p:txBody>
          <a:bodyPr/>
          <a:lstStyle>
            <a:lvl1pPr marL="0" indent="0">
              <a:buNone/>
              <a:defRPr sz="1800">
                <a:solidFill>
                  <a:schemeClr val="tx1">
                    <a:tint val="82000"/>
                  </a:schemeClr>
                </a:solidFill>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8A423862-3F52-459D-BB97-400A2FF529BA}" type="datetimeFigureOut">
              <a:rPr lang="en-US" smtClean="0"/>
              <a:t>2026-10-22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C0A8827-8173-478E-8027-31A736D41BAD}" type="slidenum">
              <a:rPr lang="en-US" smtClean="0"/>
              <a:t>‹#›</a:t>
            </a:fld>
            <a:endParaRPr lang="en-US"/>
          </a:p>
        </p:txBody>
      </p:sp>
    </p:spTree>
    <p:extLst>
      <p:ext uri="{BB962C8B-B14F-4D97-AF65-F5344CB8AC3E}">
        <p14:creationId xmlns:p14="http://schemas.microsoft.com/office/powerpoint/2010/main" val="79792859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471488" y="2434167"/>
            <a:ext cx="2914650" cy="580178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3471863" y="2434167"/>
            <a:ext cx="2914650" cy="580178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8A423862-3F52-459D-BB97-400A2FF529BA}" type="datetimeFigureOut">
              <a:rPr lang="en-US" smtClean="0"/>
              <a:t>2026-10-22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C0A8827-8173-478E-8027-31A736D41BAD}" type="slidenum">
              <a:rPr lang="en-US" smtClean="0"/>
              <a:t>‹#›</a:t>
            </a:fld>
            <a:endParaRPr lang="en-US"/>
          </a:p>
        </p:txBody>
      </p:sp>
    </p:spTree>
    <p:extLst>
      <p:ext uri="{BB962C8B-B14F-4D97-AF65-F5344CB8AC3E}">
        <p14:creationId xmlns:p14="http://schemas.microsoft.com/office/powerpoint/2010/main" val="16124396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72381" y="486836"/>
            <a:ext cx="5915025" cy="1767417"/>
          </a:xfrm>
        </p:spPr>
        <p:txBody>
          <a:bodyPr/>
          <a:lstStyle/>
          <a:p>
            <a:r>
              <a:rPr lang="en-US"/>
              <a:t>Click to edit Master title style</a:t>
            </a:r>
            <a:endParaRPr lang="en-US" dirty="0"/>
          </a:p>
        </p:txBody>
      </p:sp>
      <p:sp>
        <p:nvSpPr>
          <p:cNvPr id="3" name="Text Placeholder 2"/>
          <p:cNvSpPr>
            <a:spLocks noGrp="1"/>
          </p:cNvSpPr>
          <p:nvPr>
            <p:ph type="body" idx="1"/>
          </p:nvPr>
        </p:nvSpPr>
        <p:spPr>
          <a:xfrm>
            <a:off x="472381" y="2241551"/>
            <a:ext cx="2901255" cy="1098549"/>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72381" y="3340100"/>
            <a:ext cx="2901255" cy="491278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3471863" y="2241551"/>
            <a:ext cx="2915543" cy="1098549"/>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3471863" y="3340100"/>
            <a:ext cx="2915543" cy="491278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8A423862-3F52-459D-BB97-400A2FF529BA}" type="datetimeFigureOut">
              <a:rPr lang="en-US" smtClean="0"/>
              <a:t>2026-10-22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6C0A8827-8173-478E-8027-31A736D41BAD}" type="slidenum">
              <a:rPr lang="en-US" smtClean="0"/>
              <a:t>‹#›</a:t>
            </a:fld>
            <a:endParaRPr lang="en-US"/>
          </a:p>
        </p:txBody>
      </p:sp>
    </p:spTree>
    <p:extLst>
      <p:ext uri="{BB962C8B-B14F-4D97-AF65-F5344CB8AC3E}">
        <p14:creationId xmlns:p14="http://schemas.microsoft.com/office/powerpoint/2010/main" val="76464528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8A423862-3F52-459D-BB97-400A2FF529BA}" type="datetimeFigureOut">
              <a:rPr lang="en-US" smtClean="0"/>
              <a:t>2026-10-22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6C0A8827-8173-478E-8027-31A736D41BAD}" type="slidenum">
              <a:rPr lang="en-US" smtClean="0"/>
              <a:t>‹#›</a:t>
            </a:fld>
            <a:endParaRPr lang="en-US"/>
          </a:p>
        </p:txBody>
      </p:sp>
    </p:spTree>
    <p:extLst>
      <p:ext uri="{BB962C8B-B14F-4D97-AF65-F5344CB8AC3E}">
        <p14:creationId xmlns:p14="http://schemas.microsoft.com/office/powerpoint/2010/main" val="173866801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A423862-3F52-459D-BB97-400A2FF529BA}" type="datetimeFigureOut">
              <a:rPr lang="en-US" smtClean="0"/>
              <a:t>2026-10-22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6C0A8827-8173-478E-8027-31A736D41BAD}" type="slidenum">
              <a:rPr lang="en-US" smtClean="0"/>
              <a:t>‹#›</a:t>
            </a:fld>
            <a:endParaRPr lang="en-US"/>
          </a:p>
        </p:txBody>
      </p:sp>
    </p:spTree>
    <p:extLst>
      <p:ext uri="{BB962C8B-B14F-4D97-AF65-F5344CB8AC3E}">
        <p14:creationId xmlns:p14="http://schemas.microsoft.com/office/powerpoint/2010/main" val="421751235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72381" y="609600"/>
            <a:ext cx="2211884" cy="2133600"/>
          </a:xfrm>
        </p:spPr>
        <p:txBody>
          <a:bodyPr anchor="b"/>
          <a:lstStyle>
            <a:lvl1pPr>
              <a:defRPr sz="2400"/>
            </a:lvl1pPr>
          </a:lstStyle>
          <a:p>
            <a:r>
              <a:rPr lang="en-US"/>
              <a:t>Click to edit Master title style</a:t>
            </a:r>
            <a:endParaRPr lang="en-US" dirty="0"/>
          </a:p>
        </p:txBody>
      </p:sp>
      <p:sp>
        <p:nvSpPr>
          <p:cNvPr id="3" name="Content Placeholder 2"/>
          <p:cNvSpPr>
            <a:spLocks noGrp="1"/>
          </p:cNvSpPr>
          <p:nvPr>
            <p:ph idx="1"/>
          </p:nvPr>
        </p:nvSpPr>
        <p:spPr>
          <a:xfrm>
            <a:off x="2915543" y="1316569"/>
            <a:ext cx="3471863" cy="6498167"/>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472381" y="2743200"/>
            <a:ext cx="2211884" cy="508211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8A423862-3F52-459D-BB97-400A2FF529BA}" type="datetimeFigureOut">
              <a:rPr lang="en-US" smtClean="0"/>
              <a:t>2026-10-22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C0A8827-8173-478E-8027-31A736D41BAD}" type="slidenum">
              <a:rPr lang="en-US" smtClean="0"/>
              <a:t>‹#›</a:t>
            </a:fld>
            <a:endParaRPr lang="en-US"/>
          </a:p>
        </p:txBody>
      </p:sp>
    </p:spTree>
    <p:extLst>
      <p:ext uri="{BB962C8B-B14F-4D97-AF65-F5344CB8AC3E}">
        <p14:creationId xmlns:p14="http://schemas.microsoft.com/office/powerpoint/2010/main" val="148635732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72381" y="609600"/>
            <a:ext cx="2211884" cy="2133600"/>
          </a:xfrm>
        </p:spPr>
        <p:txBody>
          <a:bodyPr anchor="b"/>
          <a:lstStyle>
            <a:lvl1pPr>
              <a:defRPr sz="2400"/>
            </a:lvl1pPr>
          </a:lstStyle>
          <a:p>
            <a:r>
              <a:rPr lang="en-US"/>
              <a:t>Click to edit Master title style</a:t>
            </a:r>
            <a:endParaRPr lang="en-US" dirty="0"/>
          </a:p>
        </p:txBody>
      </p:sp>
      <p:sp>
        <p:nvSpPr>
          <p:cNvPr id="3" name="Picture Placeholder 2"/>
          <p:cNvSpPr>
            <a:spLocks noGrp="1" noChangeAspect="1"/>
          </p:cNvSpPr>
          <p:nvPr>
            <p:ph type="pic" idx="1"/>
          </p:nvPr>
        </p:nvSpPr>
        <p:spPr>
          <a:xfrm>
            <a:off x="2915543" y="1316569"/>
            <a:ext cx="3471863" cy="6498167"/>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endParaRPr lang="en-US" dirty="0"/>
          </a:p>
        </p:txBody>
      </p:sp>
      <p:sp>
        <p:nvSpPr>
          <p:cNvPr id="4" name="Text Placeholder 3"/>
          <p:cNvSpPr>
            <a:spLocks noGrp="1"/>
          </p:cNvSpPr>
          <p:nvPr>
            <p:ph type="body" sz="half" idx="2"/>
          </p:nvPr>
        </p:nvSpPr>
        <p:spPr>
          <a:xfrm>
            <a:off x="472381" y="2743200"/>
            <a:ext cx="2211884" cy="508211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8A423862-3F52-459D-BB97-400A2FF529BA}" type="datetimeFigureOut">
              <a:rPr lang="en-US" smtClean="0"/>
              <a:t>2026-10-22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C0A8827-8173-478E-8027-31A736D41BAD}" type="slidenum">
              <a:rPr lang="en-US" smtClean="0"/>
              <a:t>‹#›</a:t>
            </a:fld>
            <a:endParaRPr lang="en-US"/>
          </a:p>
        </p:txBody>
      </p:sp>
    </p:spTree>
    <p:extLst>
      <p:ext uri="{BB962C8B-B14F-4D97-AF65-F5344CB8AC3E}">
        <p14:creationId xmlns:p14="http://schemas.microsoft.com/office/powerpoint/2010/main" val="21837083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A423862-3F52-459D-BB97-400A2FF529BA}" type="datetimeFigureOut">
              <a:rPr lang="en-US" smtClean="0"/>
              <a:t>2026-10-22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C0A8827-8173-478E-8027-31A736D41BAD}" type="slidenum">
              <a:rPr lang="en-US" smtClean="0"/>
              <a:t>‹#›</a:t>
            </a:fld>
            <a:endParaRPr lang="en-US"/>
          </a:p>
        </p:txBody>
      </p:sp>
    </p:spTree>
    <p:extLst>
      <p:ext uri="{BB962C8B-B14F-4D97-AF65-F5344CB8AC3E}">
        <p14:creationId xmlns:p14="http://schemas.microsoft.com/office/powerpoint/2010/main" val="179902385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4907757" y="486834"/>
            <a:ext cx="1478756" cy="7749117"/>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471488" y="486834"/>
            <a:ext cx="4350544" cy="774911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A423862-3F52-459D-BB97-400A2FF529BA}" type="datetimeFigureOut">
              <a:rPr lang="en-US" smtClean="0"/>
              <a:t>2026-10-22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C0A8827-8173-478E-8027-31A736D41BAD}" type="slidenum">
              <a:rPr lang="en-US" smtClean="0"/>
              <a:t>‹#›</a:t>
            </a:fld>
            <a:endParaRPr lang="en-US"/>
          </a:p>
        </p:txBody>
      </p:sp>
    </p:spTree>
    <p:extLst>
      <p:ext uri="{BB962C8B-B14F-4D97-AF65-F5344CB8AC3E}">
        <p14:creationId xmlns:p14="http://schemas.microsoft.com/office/powerpoint/2010/main" val="312810741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71488" y="486836"/>
            <a:ext cx="5915025" cy="1767417"/>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471488" y="2434167"/>
            <a:ext cx="5915025" cy="580178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471488" y="8475136"/>
            <a:ext cx="1543050" cy="486833"/>
          </a:xfrm>
          <a:prstGeom prst="rect">
            <a:avLst/>
          </a:prstGeom>
        </p:spPr>
        <p:txBody>
          <a:bodyPr vert="horz" lIns="91440" tIns="45720" rIns="91440" bIns="45720" rtlCol="0" anchor="ctr"/>
          <a:lstStyle>
            <a:lvl1pPr algn="l">
              <a:defRPr sz="900">
                <a:solidFill>
                  <a:schemeClr val="tx1">
                    <a:tint val="82000"/>
                  </a:schemeClr>
                </a:solidFill>
              </a:defRPr>
            </a:lvl1pPr>
          </a:lstStyle>
          <a:p>
            <a:fld id="{8A423862-3F52-459D-BB97-400A2FF529BA}" type="datetimeFigureOut">
              <a:rPr lang="en-US" smtClean="0"/>
              <a:t>2026-10-22</a:t>
            </a:fld>
            <a:endParaRPr lang="en-US"/>
          </a:p>
        </p:txBody>
      </p:sp>
      <p:sp>
        <p:nvSpPr>
          <p:cNvPr id="5" name="Footer Placeholder 4"/>
          <p:cNvSpPr>
            <a:spLocks noGrp="1"/>
          </p:cNvSpPr>
          <p:nvPr>
            <p:ph type="ftr" sz="quarter" idx="3"/>
          </p:nvPr>
        </p:nvSpPr>
        <p:spPr>
          <a:xfrm>
            <a:off x="2271713" y="8475136"/>
            <a:ext cx="2314575" cy="486833"/>
          </a:xfrm>
          <a:prstGeom prst="rect">
            <a:avLst/>
          </a:prstGeom>
        </p:spPr>
        <p:txBody>
          <a:bodyPr vert="horz" lIns="91440" tIns="45720" rIns="91440" bIns="45720" rtlCol="0" anchor="ctr"/>
          <a:lstStyle>
            <a:lvl1pPr algn="ctr">
              <a:defRPr sz="900">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4843463" y="8475136"/>
            <a:ext cx="1543050" cy="486833"/>
          </a:xfrm>
          <a:prstGeom prst="rect">
            <a:avLst/>
          </a:prstGeom>
        </p:spPr>
        <p:txBody>
          <a:bodyPr vert="horz" lIns="91440" tIns="45720" rIns="91440" bIns="45720" rtlCol="0" anchor="ctr"/>
          <a:lstStyle>
            <a:lvl1pPr algn="r">
              <a:defRPr sz="900">
                <a:solidFill>
                  <a:schemeClr val="tx1">
                    <a:tint val="82000"/>
                  </a:schemeClr>
                </a:solidFill>
              </a:defRPr>
            </a:lvl1pPr>
          </a:lstStyle>
          <a:p>
            <a:fld id="{6C0A8827-8173-478E-8027-31A736D41BAD}" type="slidenum">
              <a:rPr lang="en-US" smtClean="0"/>
              <a:t>‹#›</a:t>
            </a:fld>
            <a:endParaRPr lang="en-US"/>
          </a:p>
        </p:txBody>
      </p:sp>
    </p:spTree>
    <p:extLst>
      <p:ext uri="{BB962C8B-B14F-4D97-AF65-F5344CB8AC3E}">
        <p14:creationId xmlns:p14="http://schemas.microsoft.com/office/powerpoint/2010/main" val="1625684383"/>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Layout" Target="../slideLayouts/slideLayout2.xml"/><Relationship Id="rId4" Type="http://schemas.microsoft.com/office/2007/relationships/hdphoto" Target="../media/hdphoto1.wdp"/></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8B6D0C78-5C07-A24C-CB49-846D76F413A3}"/>
              </a:ext>
            </a:extLst>
          </p:cNvPr>
          <p:cNvPicPr>
            <a:picLocks noChangeAspect="1"/>
          </p:cNvPicPr>
          <p:nvPr/>
        </p:nvPicPr>
        <p:blipFill>
          <a:blip r:embed="rId2"/>
          <a:stretch>
            <a:fillRect/>
          </a:stretch>
        </p:blipFill>
        <p:spPr>
          <a:xfrm>
            <a:off x="0" y="-50334"/>
            <a:ext cx="6858000" cy="9179859"/>
          </a:xfrm>
          <a:prstGeom prst="rect">
            <a:avLst/>
          </a:prstGeom>
        </p:spPr>
      </p:pic>
      <p:sp>
        <p:nvSpPr>
          <p:cNvPr id="6" name="Rectangle 5">
            <a:extLst>
              <a:ext uri="{FF2B5EF4-FFF2-40B4-BE49-F238E27FC236}">
                <a16:creationId xmlns:a16="http://schemas.microsoft.com/office/drawing/2014/main" id="{D31DD1C7-5473-2C4F-0754-7812E59D9B27}"/>
              </a:ext>
            </a:extLst>
          </p:cNvPr>
          <p:cNvSpPr/>
          <p:nvPr/>
        </p:nvSpPr>
        <p:spPr>
          <a:xfrm>
            <a:off x="434129" y="701979"/>
            <a:ext cx="5989739" cy="796517"/>
          </a:xfrm>
          <a:prstGeom prst="rect">
            <a:avLst/>
          </a:prstGeom>
          <a:noFill/>
          <a:ln>
            <a:noFill/>
          </a:ln>
          <a:effectLst>
            <a:outerShdw blurRad="50800" dist="88900" dir="5400000" algn="t"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b="1" dirty="0">
                <a:gradFill flip="none" rotWithShape="1">
                  <a:gsLst>
                    <a:gs pos="0">
                      <a:schemeClr val="bg1">
                        <a:shade val="30000"/>
                        <a:satMod val="115000"/>
                      </a:schemeClr>
                    </a:gs>
                    <a:gs pos="50000">
                      <a:schemeClr val="bg1">
                        <a:shade val="67500"/>
                        <a:satMod val="115000"/>
                      </a:schemeClr>
                    </a:gs>
                    <a:gs pos="100000">
                      <a:schemeClr val="bg1">
                        <a:shade val="100000"/>
                        <a:satMod val="115000"/>
                      </a:schemeClr>
                    </a:gs>
                  </a:gsLst>
                  <a:lin ang="8100000" scaled="1"/>
                  <a:tileRect/>
                </a:gradFill>
                <a:effectLst>
                  <a:outerShdw blurRad="50800" dist="38100" dir="16200000" rotWithShape="0">
                    <a:prstClr val="black">
                      <a:alpha val="40000"/>
                    </a:prstClr>
                  </a:outerShdw>
                </a:effectLst>
                <a:latin typeface="Mongolian Baiti" panose="03000500000000000000" pitchFamily="66" charset="0"/>
                <a:ea typeface="ADLaM Display" panose="020F0502020204030204" pitchFamily="2" charset="0"/>
                <a:cs typeface="Mongolian Baiti" panose="03000500000000000000" pitchFamily="66" charset="0"/>
              </a:rPr>
              <a:t>FROM DATA TO THESIS</a:t>
            </a:r>
          </a:p>
        </p:txBody>
      </p:sp>
      <p:sp>
        <p:nvSpPr>
          <p:cNvPr id="7" name="Rectangle 6">
            <a:extLst>
              <a:ext uri="{FF2B5EF4-FFF2-40B4-BE49-F238E27FC236}">
                <a16:creationId xmlns:a16="http://schemas.microsoft.com/office/drawing/2014/main" id="{A820E9CF-D657-21A5-F2D8-DD96BCDC40D3}"/>
              </a:ext>
            </a:extLst>
          </p:cNvPr>
          <p:cNvSpPr/>
          <p:nvPr/>
        </p:nvSpPr>
        <p:spPr>
          <a:xfrm>
            <a:off x="1252055" y="1498496"/>
            <a:ext cx="4353886" cy="562062"/>
          </a:xfrm>
          <a:prstGeom prst="rect">
            <a:avLst/>
          </a:prstGeom>
          <a:gradFill flip="none" rotWithShape="1">
            <a:gsLst>
              <a:gs pos="100000">
                <a:srgbClr val="1E272E"/>
              </a:gs>
              <a:gs pos="0">
                <a:srgbClr val="1B212A"/>
              </a:gs>
              <a:gs pos="39000">
                <a:schemeClr val="bg1">
                  <a:shade val="67500"/>
                  <a:satMod val="115000"/>
                </a:schemeClr>
              </a:gs>
              <a:gs pos="66000">
                <a:schemeClr val="bg1">
                  <a:shade val="100000"/>
                  <a:satMod val="115000"/>
                </a:schemeClr>
              </a:gs>
            </a:gsLst>
            <a:lin ang="0" scaled="0"/>
            <a:tileRect/>
          </a:gradFill>
          <a:ln>
            <a:noFill/>
          </a:ln>
          <a:effectLst>
            <a:outerShdw blurRad="50800" dist="114300" dir="5400000" algn="t"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ln/>
                <a:solidFill>
                  <a:srgbClr val="1E272E"/>
                </a:solidFill>
                <a:effectLst>
                  <a:outerShdw blurRad="38100" dist="19050" dir="2700000" algn="tl" rotWithShape="0">
                    <a:schemeClr val="dk1">
                      <a:lumMod val="50000"/>
                      <a:alpha val="40000"/>
                    </a:schemeClr>
                  </a:outerShdw>
                </a:effectLst>
                <a:latin typeface="Mongolian Baiti" panose="03000500000000000000" pitchFamily="66" charset="0"/>
                <a:ea typeface="ADLaM Display" panose="020F0502020204030204" pitchFamily="2" charset="0"/>
                <a:cs typeface="Mongolian Baiti" panose="03000500000000000000" pitchFamily="66" charset="0"/>
              </a:rPr>
              <a:t>Using Python for Non-Technical</a:t>
            </a:r>
          </a:p>
        </p:txBody>
      </p:sp>
      <p:pic>
        <p:nvPicPr>
          <p:cNvPr id="9" name="Picture 8">
            <a:extLst>
              <a:ext uri="{FF2B5EF4-FFF2-40B4-BE49-F238E27FC236}">
                <a16:creationId xmlns:a16="http://schemas.microsoft.com/office/drawing/2014/main" id="{1A9379B9-0BB4-2D63-AACB-BED1574B0D03}"/>
              </a:ext>
            </a:extLst>
          </p:cNvPr>
          <p:cNvPicPr>
            <a:picLocks noChangeAspect="1"/>
          </p:cNvPicPr>
          <p:nvPr/>
        </p:nvPicPr>
        <p:blipFill>
          <a:blip r:embed="rId3"/>
          <a:stretch>
            <a:fillRect/>
          </a:stretch>
        </p:blipFill>
        <p:spPr>
          <a:xfrm>
            <a:off x="5819862" y="8145709"/>
            <a:ext cx="796517" cy="796517"/>
          </a:xfrm>
          <a:prstGeom prst="rect">
            <a:avLst/>
          </a:prstGeom>
        </p:spPr>
      </p:pic>
      <p:sp>
        <p:nvSpPr>
          <p:cNvPr id="10" name="Rectangle 9">
            <a:extLst>
              <a:ext uri="{FF2B5EF4-FFF2-40B4-BE49-F238E27FC236}">
                <a16:creationId xmlns:a16="http://schemas.microsoft.com/office/drawing/2014/main" id="{B3B32837-3693-EE92-907E-7074CFDAF9CA}"/>
              </a:ext>
            </a:extLst>
          </p:cNvPr>
          <p:cNvSpPr/>
          <p:nvPr/>
        </p:nvSpPr>
        <p:spPr>
          <a:xfrm>
            <a:off x="1458635" y="7271975"/>
            <a:ext cx="3940728" cy="771787"/>
          </a:xfrm>
          <a:prstGeom prst="rect">
            <a:avLst/>
          </a:prstGeom>
          <a:noFill/>
          <a:ln>
            <a:noFill/>
          </a:ln>
          <a:effectLst>
            <a:outerShdw blurRad="50800" dist="88900" dir="5400000" algn="t"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r>
              <a:rPr lang="en-US" sz="2000" b="1" dirty="0">
                <a:gradFill flip="none" rotWithShape="1">
                  <a:gsLst>
                    <a:gs pos="0">
                      <a:schemeClr val="lt1">
                        <a:shade val="30000"/>
                        <a:satMod val="115000"/>
                      </a:schemeClr>
                    </a:gs>
                    <a:gs pos="50000">
                      <a:schemeClr val="lt1">
                        <a:shade val="67500"/>
                        <a:satMod val="115000"/>
                      </a:schemeClr>
                    </a:gs>
                    <a:gs pos="100000">
                      <a:schemeClr val="lt1">
                        <a:shade val="100000"/>
                        <a:satMod val="115000"/>
                      </a:schemeClr>
                    </a:gs>
                  </a:gsLst>
                  <a:lin ang="8100000" scaled="1"/>
                  <a:tileRect/>
                </a:gradFill>
                <a:effectLst>
                  <a:innerShdw blurRad="63500" dist="50800" dir="16200000">
                    <a:prstClr val="black">
                      <a:alpha val="50000"/>
                    </a:prstClr>
                  </a:innerShdw>
                </a:effectLst>
                <a:latin typeface="Bookman Old Style" panose="02050604050505020204" pitchFamily="18" charset="0"/>
                <a:cs typeface="Posterama" panose="020B0504020200020000" pitchFamily="34" charset="0"/>
              </a:rPr>
              <a:t>Modern Data Analysis in the Age of AI</a:t>
            </a:r>
          </a:p>
        </p:txBody>
      </p:sp>
      <p:sp>
        <p:nvSpPr>
          <p:cNvPr id="11" name="Rectangle 10">
            <a:extLst>
              <a:ext uri="{FF2B5EF4-FFF2-40B4-BE49-F238E27FC236}">
                <a16:creationId xmlns:a16="http://schemas.microsoft.com/office/drawing/2014/main" id="{D109A51C-014F-5816-715A-87D1BD5B6EED}"/>
              </a:ext>
            </a:extLst>
          </p:cNvPr>
          <p:cNvSpPr/>
          <p:nvPr/>
        </p:nvSpPr>
        <p:spPr>
          <a:xfrm>
            <a:off x="1399912" y="8088138"/>
            <a:ext cx="3940728" cy="771787"/>
          </a:xfrm>
          <a:prstGeom prst="rect">
            <a:avLst/>
          </a:prstGeom>
          <a:noFill/>
          <a:ln>
            <a:noFill/>
          </a:ln>
          <a:effectLst>
            <a:outerShdw blurRad="50800" dist="88900" dir="5400000" algn="t"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r>
              <a:rPr lang="en-US" sz="2000" dirty="0">
                <a:gradFill flip="none" rotWithShape="1">
                  <a:gsLst>
                    <a:gs pos="0">
                      <a:schemeClr val="lt1">
                        <a:shade val="30000"/>
                        <a:satMod val="115000"/>
                      </a:schemeClr>
                    </a:gs>
                    <a:gs pos="50000">
                      <a:schemeClr val="lt1">
                        <a:shade val="67500"/>
                        <a:satMod val="115000"/>
                      </a:schemeClr>
                    </a:gs>
                    <a:gs pos="100000">
                      <a:schemeClr val="lt1">
                        <a:shade val="100000"/>
                        <a:satMod val="115000"/>
                      </a:schemeClr>
                    </a:gs>
                  </a:gsLst>
                  <a:lin ang="8100000" scaled="1"/>
                  <a:tileRect/>
                </a:gradFill>
                <a:effectLst>
                  <a:innerShdw blurRad="63500" dist="50800" dir="16200000">
                    <a:prstClr val="black">
                      <a:alpha val="50000"/>
                    </a:prstClr>
                  </a:innerShdw>
                </a:effectLst>
                <a:latin typeface="Bookman Old Style" panose="02050604050505020204" pitchFamily="18" charset="0"/>
                <a:cs typeface="Posterama" panose="020B0504020200020000" pitchFamily="34" charset="0"/>
              </a:rPr>
              <a:t>by Polla Fattah and an Ensemble of LLMs</a:t>
            </a:r>
          </a:p>
        </p:txBody>
      </p:sp>
      <p:sp>
        <p:nvSpPr>
          <p:cNvPr id="19" name="Rectangle 18">
            <a:extLst>
              <a:ext uri="{FF2B5EF4-FFF2-40B4-BE49-F238E27FC236}">
                <a16:creationId xmlns:a16="http://schemas.microsoft.com/office/drawing/2014/main" id="{774805FA-C0BB-1924-387C-7FB1937F8F8E}"/>
              </a:ext>
            </a:extLst>
          </p:cNvPr>
          <p:cNvSpPr/>
          <p:nvPr/>
        </p:nvSpPr>
        <p:spPr>
          <a:xfrm flipV="1">
            <a:off x="1963151" y="8062969"/>
            <a:ext cx="2814249" cy="9144"/>
          </a:xfrm>
          <a:prstGeom prst="rect">
            <a:avLst/>
          </a:prstGeom>
          <a:gradFill flip="none" rotWithShape="1">
            <a:gsLst>
              <a:gs pos="100000">
                <a:srgbClr val="1E272E"/>
              </a:gs>
              <a:gs pos="0">
                <a:srgbClr val="1B212A"/>
              </a:gs>
              <a:gs pos="39000">
                <a:schemeClr val="bg1">
                  <a:shade val="67500"/>
                  <a:satMod val="115000"/>
                </a:schemeClr>
              </a:gs>
              <a:gs pos="66000">
                <a:schemeClr val="bg1">
                  <a:shade val="100000"/>
                  <a:satMod val="115000"/>
                </a:schemeClr>
              </a:gs>
            </a:gsLst>
            <a:lin ang="0" scaled="0"/>
            <a:tileRect/>
          </a:gra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600" b="1" dirty="0">
              <a:ln/>
              <a:solidFill>
                <a:srgbClr val="1E272E"/>
              </a:solidFill>
              <a:effectLst>
                <a:outerShdw blurRad="38100" dist="19050" dir="2700000" algn="tl" rotWithShape="0">
                  <a:schemeClr val="dk1">
                    <a:lumMod val="50000"/>
                    <a:alpha val="40000"/>
                  </a:schemeClr>
                </a:outerShdw>
              </a:effectLst>
              <a:latin typeface="Mongolian Baiti" panose="03000500000000000000" pitchFamily="66" charset="0"/>
              <a:ea typeface="ADLaM Display" panose="020F0502020204030204" pitchFamily="2" charset="0"/>
              <a:cs typeface="Mongolian Baiti" panose="03000500000000000000" pitchFamily="66" charset="0"/>
            </a:endParaRPr>
          </a:p>
        </p:txBody>
      </p:sp>
      <p:pic>
        <p:nvPicPr>
          <p:cNvPr id="2" name="Picture 1">
            <a:extLst>
              <a:ext uri="{FF2B5EF4-FFF2-40B4-BE49-F238E27FC236}">
                <a16:creationId xmlns:a16="http://schemas.microsoft.com/office/drawing/2014/main" id="{2F87E2E5-D3DD-4634-C096-D6F02979F29A}"/>
              </a:ext>
            </a:extLst>
          </p:cNvPr>
          <p:cNvPicPr>
            <a:picLocks noChangeAspect="1"/>
          </p:cNvPicPr>
          <p:nvPr/>
        </p:nvPicPr>
        <p:blipFill>
          <a:blip r:embed="rId4"/>
          <a:srcRect l="18275"/>
          <a:stretch>
            <a:fillRect/>
          </a:stretch>
        </p:blipFill>
        <p:spPr>
          <a:xfrm rot="21163619">
            <a:off x="542581" y="2804149"/>
            <a:ext cx="5824340" cy="4192862"/>
          </a:xfrm>
          <a:prstGeom prst="rect">
            <a:avLst/>
          </a:prstGeom>
        </p:spPr>
      </p:pic>
    </p:spTree>
    <p:extLst>
      <p:ext uri="{BB962C8B-B14F-4D97-AF65-F5344CB8AC3E}">
        <p14:creationId xmlns:p14="http://schemas.microsoft.com/office/powerpoint/2010/main" val="28285547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F52ED9D7-200B-C157-1C8A-15873D024AEB}"/>
              </a:ext>
            </a:extLst>
          </p:cNvPr>
          <p:cNvPicPr>
            <a:picLocks noChangeAspect="1"/>
          </p:cNvPicPr>
          <p:nvPr/>
        </p:nvPicPr>
        <p:blipFill>
          <a:blip r:embed="rId2"/>
          <a:stretch>
            <a:fillRect/>
          </a:stretch>
        </p:blipFill>
        <p:spPr>
          <a:xfrm>
            <a:off x="0" y="-50334"/>
            <a:ext cx="6858000" cy="9179859"/>
          </a:xfrm>
          <a:prstGeom prst="rect">
            <a:avLst/>
          </a:prstGeom>
        </p:spPr>
      </p:pic>
      <p:pic>
        <p:nvPicPr>
          <p:cNvPr id="7" name="Picture 6">
            <a:extLst>
              <a:ext uri="{FF2B5EF4-FFF2-40B4-BE49-F238E27FC236}">
                <a16:creationId xmlns:a16="http://schemas.microsoft.com/office/drawing/2014/main" id="{CA204BE5-4446-3E4F-4D26-495050DF0B43}"/>
              </a:ext>
            </a:extLst>
          </p:cNvPr>
          <p:cNvPicPr>
            <a:picLocks noChangeAspect="1"/>
          </p:cNvPicPr>
          <p:nvPr/>
        </p:nvPicPr>
        <p:blipFill>
          <a:blip r:embed="rId3">
            <a:biLevel thresh="25000"/>
            <a:extLst>
              <a:ext uri="{BEBA8EAE-BF5A-486C-A8C5-ECC9F3942E4B}">
                <a14:imgProps xmlns:a14="http://schemas.microsoft.com/office/drawing/2010/main">
                  <a14:imgLayer r:embed="rId4">
                    <a14:imgEffect>
                      <a14:backgroundRemoval t="4068" b="90000" l="10000" r="90000">
                        <a14:foregroundMark x1="55085" y1="32203" x2="55085" y2="32203"/>
                        <a14:foregroundMark x1="48136" y1="7966" x2="48136" y2="7966"/>
                        <a14:foregroundMark x1="44068" y1="60339" x2="44068" y2="60339"/>
                        <a14:foregroundMark x1="41864" y1="74068" x2="41864" y2="74068"/>
                        <a14:foregroundMark x1="45763" y1="88136" x2="45763" y2="88136"/>
                        <a14:foregroundMark x1="43729" y1="4068" x2="43729" y2="4068"/>
                      </a14:backgroundRemoval>
                    </a14:imgEffect>
                  </a14:imgLayer>
                </a14:imgProps>
              </a:ext>
            </a:extLst>
          </a:blip>
          <a:stretch>
            <a:fillRect/>
          </a:stretch>
        </p:blipFill>
        <p:spPr>
          <a:xfrm>
            <a:off x="2882666" y="7248086"/>
            <a:ext cx="1092666" cy="1092666"/>
          </a:xfrm>
          <a:prstGeom prst="rect">
            <a:avLst/>
          </a:prstGeom>
        </p:spPr>
      </p:pic>
      <p:sp>
        <p:nvSpPr>
          <p:cNvPr id="9" name="Rectangle 8">
            <a:extLst>
              <a:ext uri="{FF2B5EF4-FFF2-40B4-BE49-F238E27FC236}">
                <a16:creationId xmlns:a16="http://schemas.microsoft.com/office/drawing/2014/main" id="{B68E1E5C-9CC8-6241-EA00-A753BB0F0175}"/>
              </a:ext>
            </a:extLst>
          </p:cNvPr>
          <p:cNvSpPr/>
          <p:nvPr/>
        </p:nvSpPr>
        <p:spPr>
          <a:xfrm>
            <a:off x="1458636" y="8122742"/>
            <a:ext cx="3940728" cy="771787"/>
          </a:xfrm>
          <a:prstGeom prst="rect">
            <a:avLst/>
          </a:prstGeom>
          <a:noFill/>
          <a:ln>
            <a:noFill/>
          </a:ln>
          <a:effectLst>
            <a:outerShdw blurRad="50800" dist="88900" dir="5400000" algn="t"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r>
              <a:rPr lang="en-US" sz="1600" dirty="0">
                <a:solidFill>
                  <a:schemeClr val="bg1"/>
                </a:solidFill>
                <a:effectLst>
                  <a:innerShdw blurRad="63500" dist="50800" dir="16200000">
                    <a:prstClr val="black">
                      <a:alpha val="50000"/>
                    </a:prstClr>
                  </a:innerShdw>
                </a:effectLst>
                <a:latin typeface="Bookman Old Style" panose="02050604050505020204" pitchFamily="18" charset="0"/>
                <a:cs typeface="Posterama" panose="020B0504020200020000" pitchFamily="34" charset="0"/>
              </a:rPr>
              <a:t>by Polla Fattah</a:t>
            </a:r>
          </a:p>
          <a:p>
            <a:pPr lvl="0" algn="ctr"/>
            <a:r>
              <a:rPr lang="en-US" sz="1600" dirty="0">
                <a:solidFill>
                  <a:schemeClr val="bg1"/>
                </a:solidFill>
                <a:effectLst>
                  <a:innerShdw blurRad="63500" dist="50800" dir="16200000">
                    <a:prstClr val="black">
                      <a:alpha val="50000"/>
                    </a:prstClr>
                  </a:innerShdw>
                </a:effectLst>
                <a:latin typeface="Bookman Old Style" panose="02050604050505020204" pitchFamily="18" charset="0"/>
                <a:cs typeface="Posterama" panose="020B0504020200020000" pitchFamily="34" charset="0"/>
              </a:rPr>
              <a:t>and Collection of LLMs</a:t>
            </a:r>
          </a:p>
        </p:txBody>
      </p:sp>
      <p:sp>
        <p:nvSpPr>
          <p:cNvPr id="11" name="Rectangle 10">
            <a:extLst>
              <a:ext uri="{FF2B5EF4-FFF2-40B4-BE49-F238E27FC236}">
                <a16:creationId xmlns:a16="http://schemas.microsoft.com/office/drawing/2014/main" id="{0892B503-2C80-FA6C-51BD-E0C1C04F93A1}"/>
              </a:ext>
            </a:extLst>
          </p:cNvPr>
          <p:cNvSpPr/>
          <p:nvPr/>
        </p:nvSpPr>
        <p:spPr>
          <a:xfrm>
            <a:off x="434128" y="32141"/>
            <a:ext cx="5989739" cy="796517"/>
          </a:xfrm>
          <a:prstGeom prst="rect">
            <a:avLst/>
          </a:prstGeom>
          <a:noFill/>
          <a:ln>
            <a:noFill/>
          </a:ln>
          <a:effectLst>
            <a:outerShdw blurRad="50800" dist="88900" dir="5400000" algn="t"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scene3d>
              <a:camera prst="orthographicFront"/>
              <a:lightRig rig="threePt" dir="t"/>
            </a:scene3d>
            <a:sp3d extrusionH="57150">
              <a:bevelT h="25400" prst="softRound"/>
            </a:sp3d>
          </a:bodyPr>
          <a:lstStyle/>
          <a:p>
            <a:pPr algn="ctr"/>
            <a:r>
              <a:rPr lang="en-US" sz="2890" b="1" spc="-300" dirty="0">
                <a:solidFill>
                  <a:schemeClr val="bg1"/>
                </a:solidFill>
                <a:latin typeface="Yu Mincho Light" panose="02020300000000000000" pitchFamily="18" charset="-128"/>
                <a:ea typeface="Yu Mincho Light" panose="02020300000000000000" pitchFamily="18" charset="-128"/>
                <a:cs typeface="Mongolian Baiti" panose="03000500000000000000" pitchFamily="66" charset="0"/>
              </a:rPr>
              <a:t>From Data To Thesis Using Python</a:t>
            </a:r>
          </a:p>
        </p:txBody>
      </p:sp>
      <p:sp>
        <p:nvSpPr>
          <p:cNvPr id="13" name="TextBox 12">
            <a:extLst>
              <a:ext uri="{FF2B5EF4-FFF2-40B4-BE49-F238E27FC236}">
                <a16:creationId xmlns:a16="http://schemas.microsoft.com/office/drawing/2014/main" id="{5B167A28-9344-9C45-565D-CC2DADCD1B15}"/>
              </a:ext>
            </a:extLst>
          </p:cNvPr>
          <p:cNvSpPr txBox="1"/>
          <p:nvPr/>
        </p:nvSpPr>
        <p:spPr>
          <a:xfrm>
            <a:off x="241184" y="828658"/>
            <a:ext cx="6375629" cy="6370975"/>
          </a:xfrm>
          <a:prstGeom prst="rect">
            <a:avLst/>
          </a:prstGeom>
          <a:noFill/>
        </p:spPr>
        <p:txBody>
          <a:bodyPr wrap="square">
            <a:spAutoFit/>
          </a:bodyPr>
          <a:lstStyle/>
          <a:p>
            <a:pPr marL="0" marR="0" indent="0" algn="l">
              <a:buNone/>
            </a:pPr>
            <a:r>
              <a:rPr lang="en-US" sz="1200" b="1" i="0" dirty="0">
                <a:solidFill>
                  <a:schemeClr val="bg1"/>
                </a:solidFill>
                <a:effectLst/>
                <a:latin typeface="+mn-lt"/>
              </a:rPr>
              <a:t>Turn messy data into a defended, publication-ready thesis.</a:t>
            </a:r>
            <a:endParaRPr lang="en-US" sz="1200" b="0" i="0" dirty="0">
              <a:solidFill>
                <a:schemeClr val="bg1"/>
              </a:solidFill>
              <a:effectLst/>
              <a:latin typeface="+mn-lt"/>
            </a:endParaRPr>
          </a:p>
          <a:p>
            <a:pPr marL="0" marR="0" indent="0" algn="l">
              <a:buNone/>
            </a:pPr>
            <a:r>
              <a:rPr lang="en-US" sz="1200" b="0" i="0" dirty="0">
                <a:solidFill>
                  <a:schemeClr val="bg1"/>
                </a:solidFill>
                <a:effectLst/>
                <a:latin typeface="+mn-lt"/>
              </a:rPr>
              <a:t>For many postgraduate and academic researchers, collecting data is only the beginning of the real challenge. The hardest hurdle is turning spreadsheets, surveys, and lab observations into robust statistical models and defendable written arguments. Commercial point-and-click tools leave your analysis opaque, while standard programming textbooks bury you in abstract computer science theory.</a:t>
            </a:r>
          </a:p>
          <a:p>
            <a:pPr marL="0" marR="0" indent="0" algn="l">
              <a:buNone/>
            </a:pPr>
            <a:r>
              <a:rPr lang="en-US" sz="1200" b="1" i="1" dirty="0">
                <a:solidFill>
                  <a:schemeClr val="bg1"/>
                </a:solidFill>
                <a:effectLst/>
                <a:latin typeface="+mn-lt"/>
              </a:rPr>
              <a:t>From Data to Thesis</a:t>
            </a:r>
            <a:r>
              <a:rPr lang="en-US" sz="1200" b="0" i="0" dirty="0">
                <a:solidFill>
                  <a:schemeClr val="bg1"/>
                </a:solidFill>
                <a:effectLst/>
                <a:latin typeface="+mn-lt"/>
              </a:rPr>
              <a:t> bridges that divide. Written specifically for graduate students, doctoral researchers, and academic professionals, this book provides a complete, modern roadmap for empirical research using </a:t>
            </a:r>
            <a:r>
              <a:rPr lang="en-US" sz="1200" b="1" i="0" dirty="0">
                <a:solidFill>
                  <a:schemeClr val="bg1"/>
                </a:solidFill>
                <a:effectLst/>
                <a:latin typeface="+mn-lt"/>
              </a:rPr>
              <a:t>Python</a:t>
            </a:r>
            <a:r>
              <a:rPr lang="en-US" sz="1200" b="0" i="0" dirty="0">
                <a:solidFill>
                  <a:schemeClr val="bg1"/>
                </a:solidFill>
                <a:effectLst/>
                <a:latin typeface="+mn-lt"/>
              </a:rPr>
              <a:t>. Rather than abstract mathematics, every concept is taught through a single, realistic running case study following 600 students across four semesters.</a:t>
            </a:r>
          </a:p>
          <a:p>
            <a:pPr lvl="1"/>
            <a:r>
              <a:rPr lang="en-US" sz="1200" b="1" i="0" dirty="0">
                <a:solidFill>
                  <a:schemeClr val="bg1"/>
                </a:solidFill>
                <a:effectLst/>
                <a:latin typeface="+mn-lt"/>
              </a:rPr>
              <a:t>Every chapter guides you through five clear steps:</a:t>
            </a:r>
            <a:endParaRPr lang="en-US" sz="1200" b="0" i="0" dirty="0">
              <a:solidFill>
                <a:schemeClr val="bg1"/>
              </a:solidFill>
              <a:effectLst/>
              <a:latin typeface="+mn-lt"/>
            </a:endParaRPr>
          </a:p>
          <a:p>
            <a:pPr marL="800100" lvl="1" indent="-342900">
              <a:buFont typeface="+mj-lt"/>
              <a:buAutoNum type="arabicPeriod"/>
            </a:pPr>
            <a:r>
              <a:rPr lang="en-US" sz="1200" b="1" i="0" dirty="0">
                <a:solidFill>
                  <a:schemeClr val="bg1"/>
                </a:solidFill>
                <a:effectLst/>
                <a:latin typeface="+mn-lt"/>
              </a:rPr>
              <a:t>A Concrete Research Question</a:t>
            </a:r>
            <a:r>
              <a:rPr lang="en-US" sz="1200" b="0" i="0" dirty="0">
                <a:solidFill>
                  <a:schemeClr val="bg1"/>
                </a:solidFill>
                <a:effectLst/>
                <a:latin typeface="+mn-lt"/>
              </a:rPr>
              <a:t>.</a:t>
            </a:r>
          </a:p>
          <a:p>
            <a:pPr marL="800100" lvl="1" indent="-342900">
              <a:buFont typeface="+mj-lt"/>
              <a:buAutoNum type="arabicPeriod"/>
            </a:pPr>
            <a:r>
              <a:rPr lang="en-US" sz="1200" b="1" i="0" dirty="0">
                <a:solidFill>
                  <a:schemeClr val="bg1"/>
                </a:solidFill>
                <a:effectLst/>
                <a:latin typeface="+mn-lt"/>
              </a:rPr>
              <a:t>A Minimal Working Example</a:t>
            </a:r>
            <a:r>
              <a:rPr lang="en-US" sz="1200" b="0" i="0" dirty="0">
                <a:solidFill>
                  <a:schemeClr val="bg1"/>
                </a:solidFill>
                <a:effectLst/>
                <a:latin typeface="+mn-lt"/>
              </a:rPr>
              <a:t> .</a:t>
            </a:r>
          </a:p>
          <a:p>
            <a:pPr marL="800100" lvl="1" indent="-342900">
              <a:buFont typeface="+mj-lt"/>
              <a:buAutoNum type="arabicPeriod"/>
            </a:pPr>
            <a:r>
              <a:rPr lang="en-US" sz="1200" b="1" i="0" dirty="0">
                <a:solidFill>
                  <a:schemeClr val="bg1"/>
                </a:solidFill>
                <a:effectLst/>
                <a:latin typeface="+mn-lt"/>
              </a:rPr>
              <a:t>The Case-Study Analysis</a:t>
            </a:r>
            <a:r>
              <a:rPr lang="en-US" sz="1200" b="0" i="0" dirty="0">
                <a:solidFill>
                  <a:schemeClr val="bg1"/>
                </a:solidFill>
                <a:effectLst/>
                <a:latin typeface="+mn-lt"/>
              </a:rPr>
              <a:t>.</a:t>
            </a:r>
          </a:p>
          <a:p>
            <a:pPr marL="800100" lvl="1" indent="-342900">
              <a:buFont typeface="+mj-lt"/>
              <a:buAutoNum type="arabicPeriod"/>
            </a:pPr>
            <a:r>
              <a:rPr lang="en-US" sz="1200" b="1" i="0" dirty="0">
                <a:solidFill>
                  <a:schemeClr val="bg1"/>
                </a:solidFill>
                <a:effectLst/>
                <a:latin typeface="+mn-lt"/>
              </a:rPr>
              <a:t>In Your Field</a:t>
            </a:r>
            <a:r>
              <a:rPr lang="en-US" sz="1200" b="0" i="0" dirty="0">
                <a:solidFill>
                  <a:schemeClr val="bg1"/>
                </a:solidFill>
                <a:effectLst/>
                <a:latin typeface="+mn-lt"/>
              </a:rPr>
              <a:t>.</a:t>
            </a:r>
          </a:p>
          <a:p>
            <a:pPr marL="800100" lvl="1" indent="-342900">
              <a:buFont typeface="+mj-lt"/>
              <a:buAutoNum type="arabicPeriod"/>
            </a:pPr>
            <a:r>
              <a:rPr lang="en-US" sz="1200" b="1" i="0" dirty="0">
                <a:solidFill>
                  <a:schemeClr val="bg1"/>
                </a:solidFill>
                <a:effectLst/>
                <a:latin typeface="+mn-lt"/>
              </a:rPr>
              <a:t>Thesis Reporting &amp; Interpretation</a:t>
            </a:r>
            <a:r>
              <a:rPr lang="en-US" sz="1200" b="0" i="0" dirty="0">
                <a:solidFill>
                  <a:schemeClr val="bg1"/>
                </a:solidFill>
                <a:effectLst/>
                <a:latin typeface="+mn-lt"/>
              </a:rPr>
              <a:t> .</a:t>
            </a:r>
          </a:p>
          <a:p>
            <a:pPr marL="0" marR="0" indent="0" algn="l">
              <a:buNone/>
            </a:pPr>
            <a:r>
              <a:rPr lang="en-US" sz="1200" b="0" i="0" dirty="0">
                <a:solidFill>
                  <a:schemeClr val="bg1"/>
                </a:solidFill>
                <a:effectLst/>
                <a:latin typeface="+mn-lt"/>
              </a:rPr>
              <a:t>From exploratory data analysis and hypothesis testing to mixed-effects models, machine learning, time-series forecasting, and ethical AI assistance, this book gives you the tools, code, and confidence to defend your research with scientific rigor.</a:t>
            </a:r>
          </a:p>
          <a:p>
            <a:pPr>
              <a:buNone/>
            </a:pPr>
            <a:br>
              <a:rPr lang="en-US" sz="1200" dirty="0">
                <a:solidFill>
                  <a:schemeClr val="bg1"/>
                </a:solidFill>
              </a:rPr>
            </a:br>
            <a:r>
              <a:rPr lang="en-US" sz="1200" b="1" i="0" dirty="0">
                <a:solidFill>
                  <a:schemeClr val="bg1"/>
                </a:solidFill>
                <a:effectLst/>
                <a:latin typeface="+mn-lt"/>
              </a:rPr>
              <a:t>Inside you will discover:</a:t>
            </a:r>
            <a:endParaRPr lang="en-US" sz="1200" b="0" i="0" dirty="0">
              <a:solidFill>
                <a:schemeClr val="bg1"/>
              </a:solidFill>
              <a:effectLst/>
              <a:latin typeface="+mn-lt"/>
            </a:endParaRPr>
          </a:p>
          <a:p>
            <a:pPr marL="342900" lvl="0" indent="-342900">
              <a:buFont typeface="Wingdings" panose="05000000000000000000" pitchFamily="2" charset="2"/>
              <a:buChar char="v"/>
            </a:pPr>
            <a:r>
              <a:rPr lang="en-US" sz="1200" b="0" i="0" dirty="0">
                <a:solidFill>
                  <a:schemeClr val="bg1"/>
                </a:solidFill>
                <a:effectLst/>
                <a:latin typeface="+mn-lt"/>
              </a:rPr>
              <a:t>How to clean, reshape, and visualize complex data using modern workflows.</a:t>
            </a:r>
          </a:p>
          <a:p>
            <a:pPr marL="342900" lvl="0" indent="-342900" algn="l">
              <a:buFont typeface="Wingdings" panose="05000000000000000000" pitchFamily="2" charset="2"/>
              <a:buChar char="v"/>
            </a:pPr>
            <a:r>
              <a:rPr lang="en-US" sz="1200" b="0" i="0" dirty="0">
                <a:solidFill>
                  <a:schemeClr val="bg1"/>
                </a:solidFill>
                <a:effectLst/>
                <a:latin typeface="+mn-lt"/>
              </a:rPr>
              <a:t>How to choose the right statistical test—and how to diagnose and fix common assumption violations.</a:t>
            </a:r>
          </a:p>
          <a:p>
            <a:pPr marL="342900" lvl="0" indent="-342900" algn="l">
              <a:buFont typeface="Wingdings" panose="05000000000000000000" pitchFamily="2" charset="2"/>
              <a:buChar char="v"/>
            </a:pPr>
            <a:r>
              <a:rPr lang="en-US" sz="1200" b="0" i="0" dirty="0">
                <a:solidFill>
                  <a:schemeClr val="bg1"/>
                </a:solidFill>
                <a:effectLst/>
                <a:latin typeface="+mn-lt"/>
              </a:rPr>
              <a:t>Practical machine learning and predictive modeling without the computational overwhelm.</a:t>
            </a:r>
          </a:p>
          <a:p>
            <a:pPr marL="342900" lvl="0" indent="-342900">
              <a:buFont typeface="Wingdings" panose="05000000000000000000" pitchFamily="2" charset="2"/>
              <a:buChar char="v"/>
            </a:pPr>
            <a:r>
              <a:rPr lang="en-US" sz="1200" b="0" i="0" dirty="0">
                <a:solidFill>
                  <a:schemeClr val="bg1"/>
                </a:solidFill>
                <a:effectLst/>
                <a:latin typeface="+mn-lt"/>
              </a:rPr>
              <a:t>Reproducible research workflows using </a:t>
            </a:r>
            <a:r>
              <a:rPr lang="en-US" sz="1200" b="1" dirty="0">
                <a:solidFill>
                  <a:schemeClr val="bg1"/>
                </a:solidFill>
              </a:rPr>
              <a:t>Quarto and Jupyter</a:t>
            </a:r>
            <a:r>
              <a:rPr lang="en-US" sz="1200" b="0" i="0" dirty="0">
                <a:solidFill>
                  <a:schemeClr val="bg1"/>
                </a:solidFill>
                <a:effectLst/>
                <a:latin typeface="+mn-lt"/>
              </a:rPr>
              <a:t> that generate thesis-ready tables and figures.</a:t>
            </a:r>
          </a:p>
          <a:p>
            <a:pPr marL="342900" lvl="0" indent="-342900" algn="l">
              <a:buFont typeface="Wingdings" panose="05000000000000000000" pitchFamily="2" charset="2"/>
              <a:buChar char="v"/>
            </a:pPr>
            <a:r>
              <a:rPr lang="en-US" sz="1200" b="0" i="0" dirty="0">
                <a:solidFill>
                  <a:schemeClr val="bg1"/>
                </a:solidFill>
                <a:effectLst/>
                <a:latin typeface="+mn-lt"/>
              </a:rPr>
              <a:t>Interactive browser playgrounds to practice every method without installing a single package.</a:t>
            </a:r>
          </a:p>
          <a:p>
            <a:pPr marL="0" marR="0" indent="0" algn="l">
              <a:buNone/>
            </a:pPr>
            <a:r>
              <a:rPr lang="en-US" sz="1200" b="0" i="1" dirty="0">
                <a:solidFill>
                  <a:schemeClr val="bg1"/>
                </a:solidFill>
                <a:effectLst/>
                <a:latin typeface="+mn-lt"/>
              </a:rPr>
              <a:t>Whether you are writing your first Master’s dissertation, completing your doctoral defense, or preparing an empirical journal article, this book is your desk companion from raw data to submitted thesis.</a:t>
            </a:r>
            <a:endParaRPr lang="en-US" sz="700" b="0" i="0" dirty="0">
              <a:solidFill>
                <a:schemeClr val="bg1"/>
              </a:solidFill>
              <a:effectLst/>
              <a:latin typeface="Segoe WPC"/>
            </a:endParaRPr>
          </a:p>
        </p:txBody>
      </p:sp>
    </p:spTree>
    <p:extLst>
      <p:ext uri="{BB962C8B-B14F-4D97-AF65-F5344CB8AC3E}">
        <p14:creationId xmlns:p14="http://schemas.microsoft.com/office/powerpoint/2010/main" val="1315964501"/>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219</TotalTime>
  <Words>348</Words>
  <Application>Microsoft Office PowerPoint</Application>
  <PresentationFormat>On-screen Show (4:3)</PresentationFormat>
  <Paragraphs>24</Paragraphs>
  <Slides>2</Slides>
  <Notes>0</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2</vt:i4>
      </vt:variant>
    </vt:vector>
  </HeadingPairs>
  <TitlesOfParts>
    <vt:vector size="11" baseType="lpstr">
      <vt:lpstr>Yu Mincho Light</vt:lpstr>
      <vt:lpstr>Aptos</vt:lpstr>
      <vt:lpstr>Aptos Display</vt:lpstr>
      <vt:lpstr>Arial</vt:lpstr>
      <vt:lpstr>Bookman Old Style</vt:lpstr>
      <vt:lpstr>Mongolian Baiti</vt:lpstr>
      <vt:lpstr>Segoe WPC</vt:lpstr>
      <vt:lpstr>Wingdings</vt:lpstr>
      <vt:lpstr>Office Theme</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Polla Abdulhamid Fattah</dc:creator>
  <cp:lastModifiedBy>Polla Abdulhamid Fattah</cp:lastModifiedBy>
  <cp:revision>13</cp:revision>
  <dcterms:created xsi:type="dcterms:W3CDTF">2026-09-26T18:19:49Z</dcterms:created>
  <dcterms:modified xsi:type="dcterms:W3CDTF">2026-10-22T22:14:13Z</dcterms:modified>
</cp:coreProperties>
</file>